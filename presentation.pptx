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95A3B8"/>
    <a:srgbClr val="F5BCBB"/>
    <a:srgbClr val="CE7AA6"/>
    <a:srgbClr val="D2EDE2"/>
    <a:srgbClr val="21C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78"/>
    <p:restoredTop sz="94610"/>
  </p:normalViewPr>
  <p:slideViewPr>
    <p:cSldViewPr snapToGrid="0" snapToObjects="1">
      <p:cViewPr>
        <p:scale>
          <a:sx n="158" d="100"/>
          <a:sy n="158" d="100"/>
        </p:scale>
        <p:origin x="-4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24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684D-18E0-D556-9770-F8CFE4BF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E9FD0-8B59-6514-AEC2-7AB0F9AA5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693F5-FD9C-F6C0-A79E-FEAA8C150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07866-708E-F1E3-1EB8-CF04F7F5C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60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54864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658368" y="914400"/>
            <a:ext cx="7863840" cy="205740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777240" y="960119"/>
            <a:ext cx="7589520" cy="1709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Artificial Intelligence</a:t>
            </a:r>
          </a:p>
          <a:p>
            <a:r>
              <a:rPr lang="en-US" sz="3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Software Development</a:t>
            </a:r>
            <a:endParaRPr lang="en-US" sz="3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3127248"/>
            <a:ext cx="7863840" cy="0"/>
          </a:xfrm>
          <a:prstGeom prst="line">
            <a:avLst/>
          </a:prstGeom>
          <a:noFill/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</a:t>
            </a: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Bc. Kristián Rusnák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584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Lukáš Radoský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3255264"/>
            <a:ext cx="3950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Comenius University in Bratislava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Mathematics, Physics and Informatics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950208"/>
            <a:ext cx="3950208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4572000" y="395020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Progress Seminar  ·  Summer 2026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01168"/>
            <a:ext cx="502920" cy="502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1"/>
          <p:cNvSpPr/>
          <p:nvPr/>
        </p:nvSpPr>
        <p:spPr>
          <a:xfrm>
            <a:off x="29260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7452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874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1046988" y="1216152"/>
            <a:ext cx="694944" cy="694944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307592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2039112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Log Volume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" y="2551176"/>
            <a:ext cx="161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generate billions of log lines daily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960120"/>
            <a:ext cx="187452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3" name="Shape 10"/>
          <p:cNvSpPr/>
          <p:nvPr/>
        </p:nvSpPr>
        <p:spPr>
          <a:xfrm>
            <a:off x="2514600" y="960120"/>
            <a:ext cx="1874520" cy="64008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1"/>
          <p:cNvSpPr/>
          <p:nvPr/>
        </p:nvSpPr>
        <p:spPr>
          <a:xfrm>
            <a:off x="3104388" y="1216152"/>
            <a:ext cx="694944" cy="694944"/>
          </a:xfrm>
          <a:prstGeom prst="ellipse">
            <a:avLst/>
          </a:prstGeom>
          <a:solidFill>
            <a:srgbClr val="E55353">
              <a:alpha val="15000"/>
            </a:srgbClr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116" y="1307592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24328" y="2039112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42616" y="2551176"/>
            <a:ext cx="161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 at scale — humans can't keep up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0" y="960120"/>
            <a:ext cx="187452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0" name="Shape 16"/>
          <p:cNvSpPr/>
          <p:nvPr/>
        </p:nvSpPr>
        <p:spPr>
          <a:xfrm>
            <a:off x="4572000" y="960120"/>
            <a:ext cx="1874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7"/>
          <p:cNvSpPr/>
          <p:nvPr/>
        </p:nvSpPr>
        <p:spPr>
          <a:xfrm>
            <a:off x="5161788" y="1216152"/>
            <a:ext cx="694944" cy="694944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516" y="1307592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634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681728" y="2039112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00016" y="2551176"/>
            <a:ext cx="161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reliability, but existing tools lack interpretability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629400" y="960120"/>
            <a:ext cx="1874520" cy="2926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7" name="Shape 22"/>
          <p:cNvSpPr/>
          <p:nvPr/>
        </p:nvSpPr>
        <p:spPr>
          <a:xfrm>
            <a:off x="6629400" y="960120"/>
            <a:ext cx="1874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3"/>
          <p:cNvSpPr/>
          <p:nvPr/>
        </p:nvSpPr>
        <p:spPr>
          <a:xfrm>
            <a:off x="7219188" y="1216152"/>
            <a:ext cx="694944" cy="694944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1307592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739128" y="2039112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757416" y="2551176"/>
            <a:ext cx="1618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AND explain them in human-readable form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2331720" y="2414016"/>
            <a:ext cx="1920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29"/>
          <p:cNvSpPr/>
          <p:nvPr/>
        </p:nvSpPr>
        <p:spPr>
          <a:xfrm>
            <a:off x="6446520" y="2414016"/>
            <a:ext cx="1920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  <p:sp>
        <p:nvSpPr>
          <p:cNvPr id="36" name="Shape 30"/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7" name="Text 31"/>
          <p:cNvSpPr/>
          <p:nvPr/>
        </p:nvSpPr>
        <p:spPr>
          <a:xfrm>
            <a:off x="29260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5029200" y="4773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Exploiting AI in Software Development</a:t>
            </a:r>
            <a:endParaRPr lang="en-US" sz="900" dirty="0"/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9932AC83-02C5-98E4-C659-AD0C52CB0AE1}"/>
              </a:ext>
            </a:extLst>
          </p:cNvPr>
          <p:cNvSpPr/>
          <p:nvPr/>
        </p:nvSpPr>
        <p:spPr>
          <a:xfrm>
            <a:off x="4389120" y="2414016"/>
            <a:ext cx="19202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Goal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07899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058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general-purpose, user-friendly agentic AI framework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61872" y="1463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 anomaly detection — with classification AND natural language explanation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2578608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54864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621792" y="2404872"/>
            <a:ext cx="566928" cy="566928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45973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4231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98448" y="280720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85216" y="3172968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different log formats and system types without retraining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82696" y="2148840"/>
            <a:ext cx="2578608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8" name="Shape 14"/>
          <p:cNvSpPr/>
          <p:nvPr/>
        </p:nvSpPr>
        <p:spPr>
          <a:xfrm>
            <a:off x="3282696" y="2148840"/>
            <a:ext cx="54864" cy="1920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5"/>
          <p:cNvSpPr/>
          <p:nvPr/>
        </p:nvSpPr>
        <p:spPr>
          <a:xfrm>
            <a:off x="3447288" y="2404872"/>
            <a:ext cx="566928" cy="566928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45973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23944" y="24231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Fine-Tuning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123944" y="280720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410712" y="3172968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(or near-zero) fine-tuning required — prompt-driven by design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08192" y="2148840"/>
            <a:ext cx="2578608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5" name="Shape 20"/>
          <p:cNvSpPr/>
          <p:nvPr/>
        </p:nvSpPr>
        <p:spPr>
          <a:xfrm>
            <a:off x="6108192" y="2148840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1"/>
          <p:cNvSpPr/>
          <p:nvPr/>
        </p:nvSpPr>
        <p:spPr>
          <a:xfrm>
            <a:off x="6272784" y="2404872"/>
            <a:ext cx="566928" cy="56692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245973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242316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949440" y="2807208"/>
            <a:ext cx="1618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36208" y="3172968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log format changes and distribution shifts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Text 29"/>
          <p:cNvSpPr/>
          <p:nvPr/>
        </p:nvSpPr>
        <p:spPr>
          <a:xfrm>
            <a:off x="29260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5029200" y="4773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Exploiting AI in Software Development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PAPERS SURVEYED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51206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54864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585216" y="1243584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1280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LLM-LADE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517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annotated explanations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1362456"/>
            <a:ext cx="932688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553712" y="13624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Framework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51206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585216" y="1865376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" y="1901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LogLLM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1396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log parsing &amp; detection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51206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585216" y="2487168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824" y="25237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LogRESP-Agent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27614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log reasoning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2606040"/>
            <a:ext cx="932688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4553712" y="26060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51206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4864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585216" y="3108960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" y="31455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 Catalog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3383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patterns for ChatGPT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3712" y="3227832"/>
            <a:ext cx="932688" cy="25603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Text 31"/>
          <p:cNvSpPr/>
          <p:nvPr/>
        </p:nvSpPr>
        <p:spPr>
          <a:xfrm>
            <a:off x="4553712" y="32278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730752"/>
            <a:ext cx="512064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457200" y="3730752"/>
            <a:ext cx="54864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585216" y="3730752"/>
            <a:ext cx="256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LogGPT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" y="40050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GPT-based anomaly detection in system logs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79008" y="93268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55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79008" y="1243584"/>
            <a:ext cx="2907792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3" name="Shape 41"/>
          <p:cNvSpPr/>
          <p:nvPr/>
        </p:nvSpPr>
        <p:spPr>
          <a:xfrm>
            <a:off x="5779008" y="1243584"/>
            <a:ext cx="64008" cy="1737360"/>
          </a:xfrm>
          <a:prstGeom prst="rect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89888"/>
            <a:ext cx="420624" cy="42062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6455664" y="1298448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works focus 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only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943600" y="195681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anomaly root causes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largely unexplored —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gap we try to address.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7790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TYPES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779008" y="3419856"/>
            <a:ext cx="16459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9" name="Text 46"/>
          <p:cNvSpPr/>
          <p:nvPr/>
        </p:nvSpPr>
        <p:spPr>
          <a:xfrm>
            <a:off x="6016752" y="3364992"/>
            <a:ext cx="1335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Framework</a:t>
            </a:r>
          </a:p>
        </p:txBody>
      </p:sp>
      <p:sp>
        <p:nvSpPr>
          <p:cNvPr id="50" name="Shape 47"/>
          <p:cNvSpPr/>
          <p:nvPr/>
        </p:nvSpPr>
        <p:spPr>
          <a:xfrm>
            <a:off x="7644384" y="3802847"/>
            <a:ext cx="164592" cy="164592"/>
          </a:xfrm>
          <a:prstGeom prst="rect">
            <a:avLst/>
          </a:prstGeom>
          <a:solidFill>
            <a:srgbClr val="CE7AA6"/>
          </a:solidFill>
          <a:ln w="12700">
            <a:solidFill>
              <a:srgbClr val="CE7AA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1" name="Text 48"/>
          <p:cNvSpPr/>
          <p:nvPr/>
        </p:nvSpPr>
        <p:spPr>
          <a:xfrm>
            <a:off x="7902157" y="3742882"/>
            <a:ext cx="895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and Detection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779008" y="367097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3" name="Text 50"/>
          <p:cNvSpPr/>
          <p:nvPr/>
        </p:nvSpPr>
        <p:spPr>
          <a:xfrm>
            <a:off x="6016752" y="3610823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780688" y="391780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5" name="Text 52"/>
          <p:cNvSpPr/>
          <p:nvPr/>
        </p:nvSpPr>
        <p:spPr>
          <a:xfrm>
            <a:off x="6016752" y="3868440"/>
            <a:ext cx="639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7" name="Text 54"/>
          <p:cNvSpPr/>
          <p:nvPr/>
        </p:nvSpPr>
        <p:spPr>
          <a:xfrm>
            <a:off x="292608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029200" y="4773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Exploiting AI in Software Development</a:t>
            </a:r>
            <a:endParaRPr lang="en-US" sz="9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900DF58B-BB38-D023-56D9-40A044B5E538}"/>
              </a:ext>
            </a:extLst>
          </p:cNvPr>
          <p:cNvSpPr/>
          <p:nvPr/>
        </p:nvSpPr>
        <p:spPr>
          <a:xfrm>
            <a:off x="3355848" y="1362456"/>
            <a:ext cx="932688" cy="256032"/>
          </a:xfrm>
          <a:prstGeom prst="rect">
            <a:avLst/>
          </a:prstGeom>
          <a:solidFill>
            <a:srgbClr val="F5BCBB">
              <a:alpha val="50196"/>
            </a:srgbClr>
          </a:solidFill>
          <a:ln>
            <a:solidFill>
              <a:srgbClr val="CE7AA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7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and Detection</a:t>
            </a:r>
            <a:endParaRPr lang="en-US" sz="900" dirty="0">
              <a:solidFill>
                <a:srgbClr val="CE7AA6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DE2897-58F5-BF15-C461-4B9FCF16C304}"/>
              </a:ext>
            </a:extLst>
          </p:cNvPr>
          <p:cNvSpPr txBox="1"/>
          <p:nvPr/>
        </p:nvSpPr>
        <p:spPr>
          <a:xfrm>
            <a:off x="4390239" y="976176"/>
            <a:ext cx="1259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TYPES</a:t>
            </a:r>
            <a:endParaRPr lang="en-US" sz="900" dirty="0"/>
          </a:p>
        </p:txBody>
      </p:sp>
      <p:sp>
        <p:nvSpPr>
          <p:cNvPr id="62" name="Text 44">
            <a:extLst>
              <a:ext uri="{FF2B5EF4-FFF2-40B4-BE49-F238E27FC236}">
                <a16:creationId xmlns:a16="http://schemas.microsoft.com/office/drawing/2014/main" id="{5BDF6AEC-FEA3-5043-0FFD-CEA8E125F328}"/>
              </a:ext>
            </a:extLst>
          </p:cNvPr>
          <p:cNvSpPr/>
          <p:nvPr/>
        </p:nvSpPr>
        <p:spPr>
          <a:xfrm>
            <a:off x="7644384" y="3089801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SCOPE</a:t>
            </a:r>
            <a:endParaRPr lang="en-US" sz="850" dirty="0"/>
          </a:p>
        </p:txBody>
      </p:sp>
      <p:sp>
        <p:nvSpPr>
          <p:cNvPr id="63" name="Shape 47">
            <a:extLst>
              <a:ext uri="{FF2B5EF4-FFF2-40B4-BE49-F238E27FC236}">
                <a16:creationId xmlns:a16="http://schemas.microsoft.com/office/drawing/2014/main" id="{DF5E52C7-7214-E424-D9B5-F766E71F0E56}"/>
              </a:ext>
            </a:extLst>
          </p:cNvPr>
          <p:cNvSpPr/>
          <p:nvPr/>
        </p:nvSpPr>
        <p:spPr>
          <a:xfrm>
            <a:off x="7647742" y="3419482"/>
            <a:ext cx="16459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5" name="Text 48">
            <a:extLst>
              <a:ext uri="{FF2B5EF4-FFF2-40B4-BE49-F238E27FC236}">
                <a16:creationId xmlns:a16="http://schemas.microsoft.com/office/drawing/2014/main" id="{E8C726CF-BCAC-2D77-35A4-0D6C11F0966C}"/>
              </a:ext>
            </a:extLst>
          </p:cNvPr>
          <p:cNvSpPr/>
          <p:nvPr/>
        </p:nvSpPr>
        <p:spPr>
          <a:xfrm>
            <a:off x="7902156" y="3362753"/>
            <a:ext cx="639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66" name="Text 44">
            <a:extLst>
              <a:ext uri="{FF2B5EF4-FFF2-40B4-BE49-F238E27FC236}">
                <a16:creationId xmlns:a16="http://schemas.microsoft.com/office/drawing/2014/main" id="{8F610B8B-AEC4-E52D-1A20-561DD22B4289}"/>
              </a:ext>
            </a:extLst>
          </p:cNvPr>
          <p:cNvSpPr/>
          <p:nvPr/>
        </p:nvSpPr>
        <p:spPr>
          <a:xfrm>
            <a:off x="3255264" y="983889"/>
            <a:ext cx="11630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SCOPE</a:t>
            </a:r>
            <a:endParaRPr lang="en-US" sz="900" dirty="0"/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5F0AF50A-E1E0-E6D8-BBF5-A34D7D3115A6}"/>
              </a:ext>
            </a:extLst>
          </p:cNvPr>
          <p:cNvSpPr/>
          <p:nvPr/>
        </p:nvSpPr>
        <p:spPr>
          <a:xfrm>
            <a:off x="4557194" y="2012644"/>
            <a:ext cx="932688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Framework</a:t>
            </a:r>
            <a:endParaRPr lang="en-US" sz="900" dirty="0"/>
          </a:p>
        </p:txBody>
      </p:sp>
      <p:sp>
        <p:nvSpPr>
          <p:cNvPr id="69" name="Shape 9">
            <a:extLst>
              <a:ext uri="{FF2B5EF4-FFF2-40B4-BE49-F238E27FC236}">
                <a16:creationId xmlns:a16="http://schemas.microsoft.com/office/drawing/2014/main" id="{AD48F294-1E7D-5018-0997-1BDF7E322432}"/>
              </a:ext>
            </a:extLst>
          </p:cNvPr>
          <p:cNvSpPr/>
          <p:nvPr/>
        </p:nvSpPr>
        <p:spPr>
          <a:xfrm>
            <a:off x="4553712" y="3861722"/>
            <a:ext cx="932688" cy="256032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Framework</a:t>
            </a:r>
            <a:endParaRPr lang="en-US" sz="900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2190B100-8AB7-6441-313B-DD2BB3DCB707}"/>
              </a:ext>
            </a:extLst>
          </p:cNvPr>
          <p:cNvSpPr/>
          <p:nvPr/>
        </p:nvSpPr>
        <p:spPr>
          <a:xfrm>
            <a:off x="3355848" y="2609461"/>
            <a:ext cx="932688" cy="256032"/>
          </a:xfrm>
          <a:prstGeom prst="rect">
            <a:avLst/>
          </a:prstGeom>
          <a:solidFill>
            <a:srgbClr val="D2EDE2">
              <a:alpha val="50000"/>
            </a:srgbClr>
          </a:solidFill>
          <a:ln>
            <a:solidFill>
              <a:srgbClr val="21C5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117ABD05-E4DD-1526-DDD4-A0AA7B5F8A7A}"/>
              </a:ext>
            </a:extLst>
          </p:cNvPr>
          <p:cNvSpPr/>
          <p:nvPr/>
        </p:nvSpPr>
        <p:spPr>
          <a:xfrm>
            <a:off x="3364992" y="3861722"/>
            <a:ext cx="932688" cy="256032"/>
          </a:xfrm>
          <a:prstGeom prst="rect">
            <a:avLst/>
          </a:prstGeom>
          <a:solidFill>
            <a:srgbClr val="D2EDE2">
              <a:alpha val="50000"/>
            </a:srgbClr>
          </a:solidFill>
          <a:ln>
            <a:solidFill>
              <a:srgbClr val="21C5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E1F38E42-F292-B17C-9CBE-5E40AB435C88}"/>
              </a:ext>
            </a:extLst>
          </p:cNvPr>
          <p:cNvSpPr/>
          <p:nvPr/>
        </p:nvSpPr>
        <p:spPr>
          <a:xfrm>
            <a:off x="3355848" y="1998772"/>
            <a:ext cx="932688" cy="256032"/>
          </a:xfrm>
          <a:prstGeom prst="rect">
            <a:avLst/>
          </a:prstGeom>
          <a:solidFill>
            <a:srgbClr val="F5BCBB">
              <a:alpha val="50196"/>
            </a:srgbClr>
          </a:solidFill>
          <a:ln>
            <a:solidFill>
              <a:srgbClr val="CE7AA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E7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and Detection</a:t>
            </a:r>
            <a:endParaRPr lang="en-US" sz="900" dirty="0">
              <a:solidFill>
                <a:srgbClr val="CE7AA6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909C877-8087-FF33-C211-1EE2F453A157}"/>
              </a:ext>
            </a:extLst>
          </p:cNvPr>
          <p:cNvCxnSpPr>
            <a:cxnSpLocks/>
          </p:cNvCxnSpPr>
          <p:nvPr/>
        </p:nvCxnSpPr>
        <p:spPr>
          <a:xfrm>
            <a:off x="3673591" y="3384857"/>
            <a:ext cx="297202" cy="0"/>
          </a:xfrm>
          <a:prstGeom prst="line">
            <a:avLst/>
          </a:prstGeom>
          <a:ln w="38100">
            <a:solidFill>
              <a:srgbClr val="95A3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— LangGraph Agentic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024128"/>
            <a:ext cx="1325880" cy="153619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292608" y="1024128"/>
            <a:ext cx="13258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292608" y="10241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37160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18488" y="1773936"/>
            <a:ext cx="27432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1819656" y="1691640"/>
            <a:ext cx="128016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1892808" y="1024128"/>
            <a:ext cx="1874520" cy="1536192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1892808" y="1024128"/>
            <a:ext cx="18745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1892808" y="10241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325880"/>
            <a:ext cx="1728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Sequence Analyzer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84248" y="164592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log events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&amp; observe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analysis description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67328" y="1773936"/>
            <a:ext cx="27432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3968496" y="1691640"/>
            <a:ext cx="128016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4041648" y="1024128"/>
            <a:ext cx="1874520" cy="1536192"/>
          </a:xfrm>
          <a:prstGeom prst="rect">
            <a:avLst/>
          </a:prstGeom>
          <a:solidFill>
            <a:srgbClr val="EDE9FE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4041648" y="1024128"/>
            <a:ext cx="18745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4041648" y="10241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1325880"/>
            <a:ext cx="1728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&amp; Explainer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33088" y="164592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logs + Node 1 output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normal / anomaly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root cause in NL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16168" y="1773936"/>
            <a:ext cx="27432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6117336" y="1691640"/>
            <a:ext cx="128016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6190488" y="1024128"/>
            <a:ext cx="1417320" cy="1536192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6190488" y="1024128"/>
            <a:ext cx="14173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6190488" y="1024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36208" y="137160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NL Explanation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92808" y="2633472"/>
            <a:ext cx="4023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1892808" y="2633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Agentic Pipeline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" y="3977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03120" y="3977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85616" y="3977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68112" y="397764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Text 38"/>
          <p:cNvSpPr/>
          <p:nvPr/>
        </p:nvSpPr>
        <p:spPr>
          <a:xfrm>
            <a:off x="5468112" y="3977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50608" y="397764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/>
          <p:cNvSpPr/>
          <p:nvPr/>
        </p:nvSpPr>
        <p:spPr>
          <a:xfrm>
            <a:off x="7150608" y="3977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Tools (planned)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7472" y="45994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backends: LogLLM · LogBERT · GPT-4o · ...</a:t>
            </a:r>
            <a:endParaRPr lang="en-US" sz="950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388EAB6D-9FB9-0E3A-FB3F-A7F2A741F450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CB1DB26D-3C62-D382-A477-E043C9A0D789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sk-SK" sz="9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9A3C8001-6ADC-3012-04B6-309EFF2AED29}"/>
              </a:ext>
            </a:extLst>
          </p:cNvPr>
          <p:cNvSpPr/>
          <p:nvPr/>
        </p:nvSpPr>
        <p:spPr>
          <a:xfrm>
            <a:off x="3785616" y="397764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sk-SK" sz="950" b="1" dirty="0"/>
          </a:p>
        </p:txBody>
      </p:sp>
      <p:sp>
        <p:nvSpPr>
          <p:cNvPr id="49" name="Shape 37">
            <a:extLst>
              <a:ext uri="{FF2B5EF4-FFF2-40B4-BE49-F238E27FC236}">
                <a16:creationId xmlns:a16="http://schemas.microsoft.com/office/drawing/2014/main" id="{C6D4F73B-1A60-2992-914C-EC36ED402715}"/>
              </a:ext>
            </a:extLst>
          </p:cNvPr>
          <p:cNvSpPr/>
          <p:nvPr/>
        </p:nvSpPr>
        <p:spPr>
          <a:xfrm>
            <a:off x="2103120" y="397764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sk-SK" sz="950" b="1" dirty="0"/>
          </a:p>
        </p:txBody>
      </p:sp>
      <p:sp>
        <p:nvSpPr>
          <p:cNvPr id="50" name="Shape 37">
            <a:extLst>
              <a:ext uri="{FF2B5EF4-FFF2-40B4-BE49-F238E27FC236}">
                <a16:creationId xmlns:a16="http://schemas.microsoft.com/office/drawing/2014/main" id="{38D7DDCE-8ACD-0777-E169-4746DA761D7B}"/>
              </a:ext>
            </a:extLst>
          </p:cNvPr>
          <p:cNvSpPr/>
          <p:nvPr/>
        </p:nvSpPr>
        <p:spPr>
          <a:xfrm>
            <a:off x="420624" y="397764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sk-SK" sz="9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LogHub Benchmark · 3 datasets · 30 annotated sequences each (LLM-LADE)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005840"/>
            <a:ext cx="2651760" cy="3520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393192" y="969264"/>
            <a:ext cx="26517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393192" y="969264"/>
            <a:ext cx="265176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3192" y="1444752"/>
            <a:ext cx="2651760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84632" y="1444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Distributed File System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1208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1208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395728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521208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1208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 lines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10512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810512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~2.9%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" y="3072384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521208" y="314553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1208" y="3346704"/>
            <a:ext cx="2395728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557784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block &lt;*&gt; src: &lt;*&gt; dest: &lt;*&gt;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1208" y="3767328"/>
            <a:ext cx="2395728" cy="34747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/>
          <p:nvPr/>
        </p:nvSpPr>
        <p:spPr>
          <a:xfrm>
            <a:off x="557784" y="376732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BLOCK* NameSystem.allocateBlock: &lt;*&gt; &lt;*&gt;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82696" y="1005840"/>
            <a:ext cx="2651760" cy="3520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3246120" y="969264"/>
            <a:ext cx="26517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3246120" y="969264"/>
            <a:ext cx="26517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3374136" y="9875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BGL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246120" y="1444752"/>
            <a:ext cx="2651760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3337560" y="1444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Gene/L Supercomputer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4136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74136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BlueGene/L system logs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74136" y="2395728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Text 33"/>
          <p:cNvSpPr/>
          <p:nvPr/>
        </p:nvSpPr>
        <p:spPr>
          <a:xfrm>
            <a:off x="3374136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74136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M lines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6344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66344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~7.4%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74136" y="3072384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Text 38"/>
          <p:cNvSpPr/>
          <p:nvPr/>
        </p:nvSpPr>
        <p:spPr>
          <a:xfrm>
            <a:off x="3374136" y="314553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374136" y="3346704"/>
            <a:ext cx="239572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/>
          <p:cNvSpPr/>
          <p:nvPr/>
        </p:nvSpPr>
        <p:spPr>
          <a:xfrm>
            <a:off x="3410712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 cache parity error corrected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374136" y="3767328"/>
            <a:ext cx="2395728" cy="3474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4" name="Text 42"/>
          <p:cNvSpPr/>
          <p:nvPr/>
        </p:nvSpPr>
        <p:spPr>
          <a:xfrm>
            <a:off x="3410712" y="376732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 errors detected and corrected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35624" y="1005840"/>
            <a:ext cx="2651760" cy="3520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Shape 44"/>
          <p:cNvSpPr/>
          <p:nvPr/>
        </p:nvSpPr>
        <p:spPr>
          <a:xfrm>
            <a:off x="6099048" y="969264"/>
            <a:ext cx="26517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7" name="Shape 45"/>
          <p:cNvSpPr/>
          <p:nvPr/>
        </p:nvSpPr>
        <p:spPr>
          <a:xfrm>
            <a:off x="6099048" y="969264"/>
            <a:ext cx="26517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Text 46"/>
          <p:cNvSpPr/>
          <p:nvPr/>
        </p:nvSpPr>
        <p:spPr>
          <a:xfrm>
            <a:off x="6227064" y="9875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099048" y="1444752"/>
            <a:ext cx="26517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0" name="Text 48"/>
          <p:cNvSpPr/>
          <p:nvPr/>
        </p:nvSpPr>
        <p:spPr>
          <a:xfrm>
            <a:off x="6190488" y="1444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 National Labs Cluster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27064" y="1901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27064" y="20848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HPC cluster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27064" y="2395728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4" name="Text 52"/>
          <p:cNvSpPr/>
          <p:nvPr/>
        </p:nvSpPr>
        <p:spPr>
          <a:xfrm>
            <a:off x="6227064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27064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M lines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16368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516368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227064" y="3072384"/>
            <a:ext cx="23957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9" name="Text 57"/>
          <p:cNvSpPr/>
          <p:nvPr/>
        </p:nvSpPr>
        <p:spPr>
          <a:xfrm>
            <a:off x="6227064" y="314553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27064" y="3346704"/>
            <a:ext cx="23957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1" name="Text 59"/>
          <p:cNvSpPr/>
          <p:nvPr/>
        </p:nvSpPr>
        <p:spPr>
          <a:xfrm>
            <a:off x="6263640" y="33467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detected on node &lt;*&gt;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227064" y="3767328"/>
            <a:ext cx="2395728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3" name="Text 61"/>
          <p:cNvSpPr/>
          <p:nvPr/>
        </p:nvSpPr>
        <p:spPr>
          <a:xfrm>
            <a:off x="6263640" y="376732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kernel: &lt;*&gt;: eth0: transmit timed out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47472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explanation data sourced from LLM-LADE · 30 sequences / dataset</a:t>
            </a:r>
            <a:endParaRPr lang="en-US" sz="900" dirty="0"/>
          </a:p>
        </p:txBody>
      </p:sp>
      <p:sp>
        <p:nvSpPr>
          <p:cNvPr id="66" name="Shape 1">
            <a:extLst>
              <a:ext uri="{FF2B5EF4-FFF2-40B4-BE49-F238E27FC236}">
                <a16:creationId xmlns:a16="http://schemas.microsoft.com/office/drawing/2014/main" id="{02557476-2C14-295E-49FB-E00BEEEC37CC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10A30314-E984-72A6-3F1F-7A3AA125890D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sk-SK" sz="9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(Best)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Evaluation · Thunderbird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379476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Classification Performance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463040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1719072" cy="91440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347472" y="1426464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512064" y="151790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2064" y="19933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12848" y="1463040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2176272" y="1426464"/>
            <a:ext cx="1719072" cy="9144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2176272" y="1426464"/>
            <a:ext cx="9144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2340864" y="151790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340864" y="19933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487168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347472" y="2450592"/>
            <a:ext cx="1719072" cy="9144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347472" y="2450592"/>
            <a:ext cx="914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512064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89.47%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12064" y="30175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2848" y="2487168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2176272" y="2450592"/>
            <a:ext cx="1719072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2176272" y="245059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2340864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340864" y="30175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987552"/>
            <a:ext cx="436168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/>
          <p:nvPr/>
        </p:nvSpPr>
        <p:spPr>
          <a:xfrm>
            <a:off x="4544568" y="987552"/>
            <a:ext cx="4178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Explanation Quality  (text-embedding-3-large)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71416" y="1463040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Shape 30"/>
          <p:cNvSpPr/>
          <p:nvPr/>
        </p:nvSpPr>
        <p:spPr>
          <a:xfrm>
            <a:off x="4434840" y="1426464"/>
            <a:ext cx="4361688" cy="713232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4434840" y="1426464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Text 32"/>
          <p:cNvSpPr/>
          <p:nvPr/>
        </p:nvSpPr>
        <p:spPr>
          <a:xfrm>
            <a:off x="4599432" y="14813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0.8579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41848" y="149961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Similarity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41848" y="1773936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sequence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99432" y="1956816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Shape 36"/>
          <p:cNvSpPr/>
          <p:nvPr/>
        </p:nvSpPr>
        <p:spPr>
          <a:xfrm>
            <a:off x="4599432" y="1956816"/>
            <a:ext cx="3522242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9" name="Shape 37"/>
          <p:cNvSpPr/>
          <p:nvPr/>
        </p:nvSpPr>
        <p:spPr>
          <a:xfrm>
            <a:off x="4471416" y="2267712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Shape 38"/>
          <p:cNvSpPr/>
          <p:nvPr/>
        </p:nvSpPr>
        <p:spPr>
          <a:xfrm>
            <a:off x="4434840" y="2231136"/>
            <a:ext cx="4361688" cy="713232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1" name="Shape 39"/>
          <p:cNvSpPr/>
          <p:nvPr/>
        </p:nvSpPr>
        <p:spPr>
          <a:xfrm>
            <a:off x="4434840" y="2231136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/>
          <p:cNvSpPr/>
          <p:nvPr/>
        </p:nvSpPr>
        <p:spPr>
          <a:xfrm>
            <a:off x="4599432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0.7774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41848" y="230428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41848" y="2578608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cosine score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99432" y="2761488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Shape 44"/>
          <p:cNvSpPr/>
          <p:nvPr/>
        </p:nvSpPr>
        <p:spPr>
          <a:xfrm>
            <a:off x="4599432" y="2761488"/>
            <a:ext cx="3191737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7" name="Shape 45"/>
          <p:cNvSpPr/>
          <p:nvPr/>
        </p:nvSpPr>
        <p:spPr>
          <a:xfrm>
            <a:off x="4471416" y="3072384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Shape 46"/>
          <p:cNvSpPr/>
          <p:nvPr/>
        </p:nvSpPr>
        <p:spPr>
          <a:xfrm>
            <a:off x="4434840" y="3035808"/>
            <a:ext cx="4361688" cy="71323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9" name="Shape 47"/>
          <p:cNvSpPr/>
          <p:nvPr/>
        </p:nvSpPr>
        <p:spPr>
          <a:xfrm>
            <a:off x="4434840" y="3035808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0" name="Text 48"/>
          <p:cNvSpPr/>
          <p:nvPr/>
        </p:nvSpPr>
        <p:spPr>
          <a:xfrm>
            <a:off x="4599432" y="30906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0.6971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641848" y="310896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Similarity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41848" y="3383280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performing sequence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99432" y="3566160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4" name="Shape 52"/>
          <p:cNvSpPr/>
          <p:nvPr/>
        </p:nvSpPr>
        <p:spPr>
          <a:xfrm>
            <a:off x="4599432" y="3566160"/>
            <a:ext cx="2862053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8" name="Shape 1">
            <a:extLst>
              <a:ext uri="{FF2B5EF4-FFF2-40B4-BE49-F238E27FC236}">
                <a16:creationId xmlns:a16="http://schemas.microsoft.com/office/drawing/2014/main" id="{46228467-7A66-68C5-36B3-C189813CE349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72BBBCA-EE24-0DF1-04A8-D791A85463E8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sk-SK" sz="900" b="1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073B-FF66-4415-F5AE-B8D0787C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AA4894B-A333-1011-460E-BE58F5C1C5A4}"/>
              </a:ext>
            </a:extLst>
          </p:cNvPr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9A503-96F9-1E22-A253-3C59EF13CE2C}"/>
              </a:ext>
            </a:extLst>
          </p:cNvPr>
          <p:cNvSpPr/>
          <p:nvPr/>
        </p:nvSpPr>
        <p:spPr>
          <a:xfrm>
            <a:off x="347472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(Worst)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2A5E68-1075-2955-0DEF-3F536AD7EA77}"/>
              </a:ext>
            </a:extLst>
          </p:cNvPr>
          <p:cNvSpPr/>
          <p:nvPr/>
        </p:nvSpPr>
        <p:spPr>
          <a:xfrm>
            <a:off x="347472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Evaluation · HDFS Dataset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8191F9-C440-2C57-ADE3-847FA74F136B}"/>
              </a:ext>
            </a:extLst>
          </p:cNvPr>
          <p:cNvSpPr/>
          <p:nvPr/>
        </p:nvSpPr>
        <p:spPr>
          <a:xfrm>
            <a:off x="347472" y="987552"/>
            <a:ext cx="379476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CDE19E-84B0-AFE8-52A9-850A1A7D2C5B}"/>
              </a:ext>
            </a:extLst>
          </p:cNvPr>
          <p:cNvSpPr/>
          <p:nvPr/>
        </p:nvSpPr>
        <p:spPr>
          <a:xfrm>
            <a:off x="457200" y="987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Classification Performance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50AA80A-45FF-5BB6-B2C2-2E14425324DB}"/>
              </a:ext>
            </a:extLst>
          </p:cNvPr>
          <p:cNvSpPr/>
          <p:nvPr/>
        </p:nvSpPr>
        <p:spPr>
          <a:xfrm>
            <a:off x="384048" y="1463040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09B27AA-2BB8-EAAA-30A5-15D5E74E53CB}"/>
              </a:ext>
            </a:extLst>
          </p:cNvPr>
          <p:cNvSpPr/>
          <p:nvPr/>
        </p:nvSpPr>
        <p:spPr>
          <a:xfrm>
            <a:off x="347472" y="1426464"/>
            <a:ext cx="1719072" cy="91440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FE40CD1-3B69-20C6-2DAA-C71057D90911}"/>
              </a:ext>
            </a:extLst>
          </p:cNvPr>
          <p:cNvSpPr/>
          <p:nvPr/>
        </p:nvSpPr>
        <p:spPr>
          <a:xfrm>
            <a:off x="347472" y="1426464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09ED7A-E711-DC10-A1DF-CEEBE2560C87}"/>
              </a:ext>
            </a:extLst>
          </p:cNvPr>
          <p:cNvSpPr/>
          <p:nvPr/>
        </p:nvSpPr>
        <p:spPr>
          <a:xfrm>
            <a:off x="512064" y="151790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63.64%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DA87E4-F828-1054-119E-D25856A4FE30}"/>
              </a:ext>
            </a:extLst>
          </p:cNvPr>
          <p:cNvSpPr/>
          <p:nvPr/>
        </p:nvSpPr>
        <p:spPr>
          <a:xfrm>
            <a:off x="512064" y="19933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0C4539-4B83-7216-9573-6BB3FB1270FE}"/>
              </a:ext>
            </a:extLst>
          </p:cNvPr>
          <p:cNvSpPr/>
          <p:nvPr/>
        </p:nvSpPr>
        <p:spPr>
          <a:xfrm>
            <a:off x="2212848" y="1463040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2945F6C-0B9F-27E4-8956-189C144A7DA1}"/>
              </a:ext>
            </a:extLst>
          </p:cNvPr>
          <p:cNvSpPr/>
          <p:nvPr/>
        </p:nvSpPr>
        <p:spPr>
          <a:xfrm>
            <a:off x="2176272" y="1426464"/>
            <a:ext cx="1719072" cy="9144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C453422-BEE0-E4A7-5D80-C9C7338C6459}"/>
              </a:ext>
            </a:extLst>
          </p:cNvPr>
          <p:cNvSpPr/>
          <p:nvPr/>
        </p:nvSpPr>
        <p:spPr>
          <a:xfrm>
            <a:off x="2176272" y="1426464"/>
            <a:ext cx="9144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0EC6B1-9E72-64B3-A110-CCDA07AEA5DD}"/>
              </a:ext>
            </a:extLst>
          </p:cNvPr>
          <p:cNvSpPr/>
          <p:nvPr/>
        </p:nvSpPr>
        <p:spPr>
          <a:xfrm>
            <a:off x="2340864" y="151790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2F1177-56B1-9E04-44EE-278E321D0866}"/>
              </a:ext>
            </a:extLst>
          </p:cNvPr>
          <p:cNvSpPr/>
          <p:nvPr/>
        </p:nvSpPr>
        <p:spPr>
          <a:xfrm>
            <a:off x="2340864" y="19933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E33B604-7661-3CB4-732C-E381730C826E}"/>
              </a:ext>
            </a:extLst>
          </p:cNvPr>
          <p:cNvSpPr/>
          <p:nvPr/>
        </p:nvSpPr>
        <p:spPr>
          <a:xfrm>
            <a:off x="384048" y="2487168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8874344-A95E-080D-62FB-9E0FEC56A226}"/>
              </a:ext>
            </a:extLst>
          </p:cNvPr>
          <p:cNvSpPr/>
          <p:nvPr/>
        </p:nvSpPr>
        <p:spPr>
          <a:xfrm>
            <a:off x="347472" y="2450592"/>
            <a:ext cx="1719072" cy="9144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8806765-5D3A-F241-A4E0-6B800094BAAA}"/>
              </a:ext>
            </a:extLst>
          </p:cNvPr>
          <p:cNvSpPr/>
          <p:nvPr/>
        </p:nvSpPr>
        <p:spPr>
          <a:xfrm>
            <a:off x="347472" y="2450592"/>
            <a:ext cx="914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B5F6E2F-AD1A-E0FA-E29C-2001323493DD}"/>
              </a:ext>
            </a:extLst>
          </p:cNvPr>
          <p:cNvSpPr/>
          <p:nvPr/>
        </p:nvSpPr>
        <p:spPr>
          <a:xfrm>
            <a:off x="512064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87.50%</a:t>
            </a:r>
            <a:endParaRPr lang="en-US" sz="2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759913-5A5D-827A-3E4E-90116406E428}"/>
              </a:ext>
            </a:extLst>
          </p:cNvPr>
          <p:cNvSpPr/>
          <p:nvPr/>
        </p:nvSpPr>
        <p:spPr>
          <a:xfrm>
            <a:off x="512064" y="30175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B9367DF-74AF-2B73-262E-95298343BBD5}"/>
              </a:ext>
            </a:extLst>
          </p:cNvPr>
          <p:cNvSpPr/>
          <p:nvPr/>
        </p:nvSpPr>
        <p:spPr>
          <a:xfrm>
            <a:off x="2212848" y="2487168"/>
            <a:ext cx="1719072" cy="914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E7A12CB-8523-6DED-3A0C-D3654FD152FD}"/>
              </a:ext>
            </a:extLst>
          </p:cNvPr>
          <p:cNvSpPr/>
          <p:nvPr/>
        </p:nvSpPr>
        <p:spPr>
          <a:xfrm>
            <a:off x="2176272" y="2450592"/>
            <a:ext cx="1719072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CD8DCA3-ACE7-3D58-2753-66872F1BE95D}"/>
              </a:ext>
            </a:extLst>
          </p:cNvPr>
          <p:cNvSpPr/>
          <p:nvPr/>
        </p:nvSpPr>
        <p:spPr>
          <a:xfrm>
            <a:off x="2176272" y="245059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39FAE6C-18D4-C2CA-F7B1-D5F413E75A2D}"/>
              </a:ext>
            </a:extLst>
          </p:cNvPr>
          <p:cNvSpPr/>
          <p:nvPr/>
        </p:nvSpPr>
        <p:spPr>
          <a:xfrm>
            <a:off x="2340864" y="25420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73.33%</a:t>
            </a:r>
            <a:endParaRPr lang="en-US" sz="2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D8EDB5F-4F2E-BE66-5007-0CA16CDBFF4F}"/>
              </a:ext>
            </a:extLst>
          </p:cNvPr>
          <p:cNvSpPr/>
          <p:nvPr/>
        </p:nvSpPr>
        <p:spPr>
          <a:xfrm>
            <a:off x="2340864" y="30175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57B1BE8-9608-3B91-CB43-49640995FE3E}"/>
              </a:ext>
            </a:extLst>
          </p:cNvPr>
          <p:cNvSpPr/>
          <p:nvPr/>
        </p:nvSpPr>
        <p:spPr>
          <a:xfrm>
            <a:off x="4434840" y="987552"/>
            <a:ext cx="436168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D079F2C-81D6-1FAA-96CB-D12FCFB94DE4}"/>
              </a:ext>
            </a:extLst>
          </p:cNvPr>
          <p:cNvSpPr/>
          <p:nvPr/>
        </p:nvSpPr>
        <p:spPr>
          <a:xfrm>
            <a:off x="4544568" y="987552"/>
            <a:ext cx="4178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Explanation Quality  (text-embedding-3-large)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55271E9-36BB-ED52-AA44-1D7CA8370BE2}"/>
              </a:ext>
            </a:extLst>
          </p:cNvPr>
          <p:cNvSpPr/>
          <p:nvPr/>
        </p:nvSpPr>
        <p:spPr>
          <a:xfrm>
            <a:off x="4471416" y="1463040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D6B0BC8-7BB2-5EAB-2816-701185468AC8}"/>
              </a:ext>
            </a:extLst>
          </p:cNvPr>
          <p:cNvSpPr/>
          <p:nvPr/>
        </p:nvSpPr>
        <p:spPr>
          <a:xfrm>
            <a:off x="4434840" y="1426464"/>
            <a:ext cx="4361688" cy="713232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8663EC1-55F9-2AFA-23AF-3E6A1A746DDB}"/>
              </a:ext>
            </a:extLst>
          </p:cNvPr>
          <p:cNvSpPr/>
          <p:nvPr/>
        </p:nvSpPr>
        <p:spPr>
          <a:xfrm>
            <a:off x="4434840" y="1426464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F816DD5-DFA9-D01B-A1C2-7DFA690120BA}"/>
              </a:ext>
            </a:extLst>
          </p:cNvPr>
          <p:cNvSpPr/>
          <p:nvPr/>
        </p:nvSpPr>
        <p:spPr>
          <a:xfrm>
            <a:off x="4599432" y="14813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0.8364</a:t>
            </a:r>
            <a:endParaRPr lang="en-US" sz="2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601662D-7142-36B7-F47C-FD655272EBB0}"/>
              </a:ext>
            </a:extLst>
          </p:cNvPr>
          <p:cNvSpPr/>
          <p:nvPr/>
        </p:nvSpPr>
        <p:spPr>
          <a:xfrm>
            <a:off x="5641848" y="149961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Similarity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11B8687-E6C3-7194-8E90-B9618CF7A01E}"/>
              </a:ext>
            </a:extLst>
          </p:cNvPr>
          <p:cNvSpPr/>
          <p:nvPr/>
        </p:nvSpPr>
        <p:spPr>
          <a:xfrm>
            <a:off x="5641848" y="1773936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sequence</a:t>
            </a:r>
            <a:endParaRPr lang="en-US" sz="9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6E55AB6-6FB0-9915-EC77-D79B16B696FC}"/>
              </a:ext>
            </a:extLst>
          </p:cNvPr>
          <p:cNvSpPr/>
          <p:nvPr/>
        </p:nvSpPr>
        <p:spPr>
          <a:xfrm>
            <a:off x="4599432" y="1956816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56BBBF6-F439-D892-266A-7A4DB6831BD5}"/>
              </a:ext>
            </a:extLst>
          </p:cNvPr>
          <p:cNvSpPr/>
          <p:nvPr/>
        </p:nvSpPr>
        <p:spPr>
          <a:xfrm>
            <a:off x="4599432" y="1956816"/>
            <a:ext cx="344601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919105C0-1C41-12BF-2F49-76521A5EE790}"/>
              </a:ext>
            </a:extLst>
          </p:cNvPr>
          <p:cNvSpPr/>
          <p:nvPr/>
        </p:nvSpPr>
        <p:spPr>
          <a:xfrm>
            <a:off x="4471416" y="2267712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4D35C36-C70D-15D0-3250-796FB37BCE53}"/>
              </a:ext>
            </a:extLst>
          </p:cNvPr>
          <p:cNvSpPr/>
          <p:nvPr/>
        </p:nvSpPr>
        <p:spPr>
          <a:xfrm>
            <a:off x="4434840" y="2231136"/>
            <a:ext cx="4361688" cy="713232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FA99E67-7604-C26A-5A8F-F4925A718CA4}"/>
              </a:ext>
            </a:extLst>
          </p:cNvPr>
          <p:cNvSpPr/>
          <p:nvPr/>
        </p:nvSpPr>
        <p:spPr>
          <a:xfrm>
            <a:off x="4434840" y="2231136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B24116F-4685-9BC8-2C96-4CBF8CD5DA38}"/>
              </a:ext>
            </a:extLst>
          </p:cNvPr>
          <p:cNvSpPr/>
          <p:nvPr/>
        </p:nvSpPr>
        <p:spPr>
          <a:xfrm>
            <a:off x="4599432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0.7293</a:t>
            </a:r>
            <a:endParaRPr lang="en-US" sz="24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89EA7C9-65A9-D631-B7FA-9B654ABB16AA}"/>
              </a:ext>
            </a:extLst>
          </p:cNvPr>
          <p:cNvSpPr/>
          <p:nvPr/>
        </p:nvSpPr>
        <p:spPr>
          <a:xfrm>
            <a:off x="5641848" y="230428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Similarity</a:t>
            </a:r>
            <a:endParaRPr lang="en-US" sz="11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E1AFBE5-839A-75FF-75E8-2B3BEAA0DEEB}"/>
              </a:ext>
            </a:extLst>
          </p:cNvPr>
          <p:cNvSpPr/>
          <p:nvPr/>
        </p:nvSpPr>
        <p:spPr>
          <a:xfrm>
            <a:off x="5641848" y="2578608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cosine score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19F0AEF-54AC-7172-5470-3FE9AC45C4C5}"/>
              </a:ext>
            </a:extLst>
          </p:cNvPr>
          <p:cNvSpPr/>
          <p:nvPr/>
        </p:nvSpPr>
        <p:spPr>
          <a:xfrm>
            <a:off x="4599432" y="2761488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4BB60DE-F344-777B-514B-3B018BC7035B}"/>
              </a:ext>
            </a:extLst>
          </p:cNvPr>
          <p:cNvSpPr/>
          <p:nvPr/>
        </p:nvSpPr>
        <p:spPr>
          <a:xfrm>
            <a:off x="4599432" y="2761488"/>
            <a:ext cx="3051267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F54A0772-0B0F-2B63-65E0-8CCAC16936D4}"/>
              </a:ext>
            </a:extLst>
          </p:cNvPr>
          <p:cNvSpPr/>
          <p:nvPr/>
        </p:nvSpPr>
        <p:spPr>
          <a:xfrm>
            <a:off x="4471416" y="3072384"/>
            <a:ext cx="43616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292A7C1-B90C-B8E6-6ED0-6EB1B0A44D7C}"/>
              </a:ext>
            </a:extLst>
          </p:cNvPr>
          <p:cNvSpPr/>
          <p:nvPr/>
        </p:nvSpPr>
        <p:spPr>
          <a:xfrm>
            <a:off x="4434840" y="3035808"/>
            <a:ext cx="4361688" cy="71323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D4A6A29-C41C-5C21-F934-948677F0B909}"/>
              </a:ext>
            </a:extLst>
          </p:cNvPr>
          <p:cNvSpPr/>
          <p:nvPr/>
        </p:nvSpPr>
        <p:spPr>
          <a:xfrm>
            <a:off x="4434840" y="3035808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D603F5-2E8F-EC8E-6893-042B264B1097}"/>
              </a:ext>
            </a:extLst>
          </p:cNvPr>
          <p:cNvSpPr/>
          <p:nvPr/>
        </p:nvSpPr>
        <p:spPr>
          <a:xfrm>
            <a:off x="4599432" y="30906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0.6427</a:t>
            </a:r>
            <a:endParaRPr lang="en-US" sz="24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BA38CBC-B8B2-9BA3-48D0-86A102872ABD}"/>
              </a:ext>
            </a:extLst>
          </p:cNvPr>
          <p:cNvSpPr/>
          <p:nvPr/>
        </p:nvSpPr>
        <p:spPr>
          <a:xfrm>
            <a:off x="5641848" y="310896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Similarity</a:t>
            </a:r>
            <a:endParaRPr lang="en-US" sz="11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5AA22CD-B08F-CB0E-E968-2851B44CFEC0}"/>
              </a:ext>
            </a:extLst>
          </p:cNvPr>
          <p:cNvSpPr/>
          <p:nvPr/>
        </p:nvSpPr>
        <p:spPr>
          <a:xfrm>
            <a:off x="5641848" y="3383280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performing sequence</a:t>
            </a:r>
            <a:endParaRPr lang="en-US" sz="9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FA1D0AD7-A668-C64D-E2BA-C7D63749533D}"/>
              </a:ext>
            </a:extLst>
          </p:cNvPr>
          <p:cNvSpPr/>
          <p:nvPr/>
        </p:nvSpPr>
        <p:spPr>
          <a:xfrm>
            <a:off x="4599432" y="3566160"/>
            <a:ext cx="410565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EC99238-7E22-0437-DDB7-C59C8F939A73}"/>
              </a:ext>
            </a:extLst>
          </p:cNvPr>
          <p:cNvSpPr/>
          <p:nvPr/>
        </p:nvSpPr>
        <p:spPr>
          <a:xfrm>
            <a:off x="4599432" y="3566160"/>
            <a:ext cx="2757043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8" name="Shape 1">
            <a:extLst>
              <a:ext uri="{FF2B5EF4-FFF2-40B4-BE49-F238E27FC236}">
                <a16:creationId xmlns:a16="http://schemas.microsoft.com/office/drawing/2014/main" id="{E74E219C-3F5B-4121-D837-211220D6C52D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336C226A-21C8-A7A1-1A4E-FCCA3C65D4A8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sk-SK" sz="900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00510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658368"/>
            <a:ext cx="8430768" cy="310896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Shape 5"/>
          <p:cNvSpPr/>
          <p:nvPr/>
        </p:nvSpPr>
        <p:spPr>
          <a:xfrm>
            <a:off x="347472" y="658368"/>
            <a:ext cx="914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502920" y="658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only 30 annotated sequences per dataset — insufficient for robust evaluation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1161288"/>
            <a:ext cx="4041648" cy="3246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347472" y="1115568"/>
            <a:ext cx="4041648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347472" y="1115568"/>
            <a:ext cx="404164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475488" y="111556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  ·  In progress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1554480"/>
            <a:ext cx="4041648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475488" y="155448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Few-Shot Synthetic Generation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" y="1993392"/>
            <a:ext cx="1042416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493776" y="1993392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samples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(few-shot)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36192" y="2221992"/>
            <a:ext cx="29260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1755648" y="2148840"/>
            <a:ext cx="109728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1865376" y="1993392"/>
            <a:ext cx="1042416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1865376" y="1993392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07792" y="2221992"/>
            <a:ext cx="292608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3127248" y="2148840"/>
            <a:ext cx="109728" cy="1463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3236976" y="1993392"/>
            <a:ext cx="1042416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3236976" y="1993392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" y="2633472"/>
            <a:ext cx="37673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implemented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synthetic data already generated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3–5 real examples as prompt context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varied log sequences with labels &amp; explanations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/>
              <a:t>Need validation strategy to verify generated datasets (log sequence correctness, classification accuracy, and cause explanation quality)</a:t>
            </a:r>
          </a:p>
        </p:txBody>
      </p:sp>
      <p:sp>
        <p:nvSpPr>
          <p:cNvPr id="26" name="Shape 24"/>
          <p:cNvSpPr/>
          <p:nvPr/>
        </p:nvSpPr>
        <p:spPr>
          <a:xfrm>
            <a:off x="4764024" y="1161288"/>
            <a:ext cx="4041648" cy="3246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4718304" y="1115568"/>
            <a:ext cx="4041648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4718304" y="1115568"/>
            <a:ext cx="4041648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4846320" y="111556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  ·  Planned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18304" y="1554480"/>
            <a:ext cx="4041648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4846320" y="155448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Injection into Normal Sequences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1993392"/>
            <a:ext cx="100584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Text 31"/>
          <p:cNvSpPr/>
          <p:nvPr/>
        </p:nvSpPr>
        <p:spPr>
          <a:xfrm>
            <a:off x="4846320" y="19933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70448" y="19933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71616" y="1993392"/>
            <a:ext cx="100584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6071616" y="199339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77456" y="2221992"/>
            <a:ext cx="329184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Shape 36"/>
          <p:cNvSpPr/>
          <p:nvPr/>
        </p:nvSpPr>
        <p:spPr>
          <a:xfrm>
            <a:off x="7333488" y="2148840"/>
            <a:ext cx="109728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9" name="Shape 37"/>
          <p:cNvSpPr/>
          <p:nvPr/>
        </p:nvSpPr>
        <p:spPr>
          <a:xfrm>
            <a:off x="7424928" y="1993392"/>
            <a:ext cx="10972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Text 38"/>
          <p:cNvSpPr/>
          <p:nvPr/>
        </p:nvSpPr>
        <p:spPr>
          <a:xfrm>
            <a:off x="7424928" y="19933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+ GT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82896" y="2633472"/>
            <a:ext cx="376732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known abnormal messages into normal logs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anomalies with verifiable root causes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labels are deterministic — no annotation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scalable, controllable evaluation</a:t>
            </a:r>
            <a:endParaRPr lang="en-US" sz="10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A9933503-5428-FD1E-0330-A70EBEFB83DB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87575F88-BBEA-29C2-68DC-1BC548D377EE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r>
              <a:rPr lang="sk-SK" sz="900" b="1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217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for thesis completion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2064" y="1280160"/>
            <a:ext cx="811987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512064" y="1280160"/>
            <a:ext cx="27432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786384" y="100584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786384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164592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237744" y="1719072"/>
            <a:ext cx="1645920" cy="274320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237744" y="1719072"/>
            <a:ext cx="1645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329184" y="18470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Expand Dataset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2377440"/>
            <a:ext cx="1463040" cy="0"/>
          </a:xfrm>
          <a:prstGeom prst="line">
            <a:avLst/>
          </a:prstGeom>
          <a:noFill/>
          <a:ln w="9525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/>
          <p:nvPr/>
        </p:nvSpPr>
        <p:spPr>
          <a:xfrm>
            <a:off x="329184" y="2450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augmented data quality · scale to all 3 datasets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1005840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Text 16"/>
          <p:cNvSpPr/>
          <p:nvPr/>
        </p:nvSpPr>
        <p:spPr>
          <a:xfrm>
            <a:off x="2542032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29968" y="1755648"/>
            <a:ext cx="164592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1993392" y="1719072"/>
            <a:ext cx="1645920" cy="27432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1993392" y="1719072"/>
            <a:ext cx="164592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2084832" y="18470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84832" y="2377440"/>
            <a:ext cx="1463040" cy="0"/>
          </a:xfrm>
          <a:prstGeom prst="line">
            <a:avLst/>
          </a:prstGeom>
          <a:noFill/>
          <a:ln w="9525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/>
          <p:nvPr/>
        </p:nvSpPr>
        <p:spPr>
          <a:xfrm>
            <a:off x="2084832" y="2450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prototype with MCP / tool calling capabilities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10058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Text 24"/>
          <p:cNvSpPr/>
          <p:nvPr/>
        </p:nvSpPr>
        <p:spPr>
          <a:xfrm>
            <a:off x="42976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85616" y="1755648"/>
            <a:ext cx="164592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3749040" y="1719072"/>
            <a:ext cx="1645920" cy="27432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3749040" y="1719072"/>
            <a:ext cx="1645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/>
          <p:nvPr/>
        </p:nvSpPr>
        <p:spPr>
          <a:xfrm>
            <a:off x="3840480" y="18470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LogLLM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2377440"/>
            <a:ext cx="1463040" cy="0"/>
          </a:xfrm>
          <a:prstGeom prst="line">
            <a:avLst/>
          </a:prstGeom>
          <a:noFill/>
          <a:ln w="9525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Text 30"/>
          <p:cNvSpPr/>
          <p:nvPr/>
        </p:nvSpPr>
        <p:spPr>
          <a:xfrm>
            <a:off x="3840480" y="2450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full LLM-based log detection framework as an agentic tool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53328" y="10058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Text 32"/>
          <p:cNvSpPr/>
          <p:nvPr/>
        </p:nvSpPr>
        <p:spPr>
          <a:xfrm>
            <a:off x="605332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41264" y="1755648"/>
            <a:ext cx="164592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Shape 34"/>
          <p:cNvSpPr/>
          <p:nvPr/>
        </p:nvSpPr>
        <p:spPr>
          <a:xfrm>
            <a:off x="5504688" y="1719072"/>
            <a:ext cx="1645920" cy="27432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5504688" y="1719072"/>
            <a:ext cx="1645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Text 36"/>
          <p:cNvSpPr/>
          <p:nvPr/>
        </p:nvSpPr>
        <p:spPr>
          <a:xfrm>
            <a:off x="5596128" y="18470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Pipeline Tools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96128" y="2377440"/>
            <a:ext cx="1463040" cy="0"/>
          </a:xfrm>
          <a:prstGeom prst="line">
            <a:avLst/>
          </a:prstGeom>
          <a:noFill/>
          <a:ln w="9525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Text 38"/>
          <p:cNvSpPr/>
          <p:nvPr/>
        </p:nvSpPr>
        <p:spPr>
          <a:xfrm>
            <a:off x="5596128" y="2450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dedicated tools for log parsing, pattern search &amp; retrieval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08976" y="100584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Text 40"/>
          <p:cNvSpPr/>
          <p:nvPr/>
        </p:nvSpPr>
        <p:spPr>
          <a:xfrm>
            <a:off x="7808976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96912" y="1755648"/>
            <a:ext cx="1645920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4" name="Shape 42"/>
          <p:cNvSpPr/>
          <p:nvPr/>
        </p:nvSpPr>
        <p:spPr>
          <a:xfrm>
            <a:off x="7260336" y="1719072"/>
            <a:ext cx="1645920" cy="274320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5" name="Shape 43"/>
          <p:cNvSpPr/>
          <p:nvPr/>
        </p:nvSpPr>
        <p:spPr>
          <a:xfrm>
            <a:off x="7260336" y="1719072"/>
            <a:ext cx="1645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Text 44"/>
          <p:cNvSpPr/>
          <p:nvPr/>
        </p:nvSpPr>
        <p:spPr>
          <a:xfrm>
            <a:off x="7351776" y="18470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System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51776" y="2377440"/>
            <a:ext cx="1463040" cy="0"/>
          </a:xfrm>
          <a:prstGeom prst="line">
            <a:avLst/>
          </a:prstGeom>
          <a:noFill/>
          <a:ln w="9525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Text 46"/>
          <p:cNvSpPr/>
          <p:nvPr/>
        </p:nvSpPr>
        <p:spPr>
          <a:xfrm>
            <a:off x="7351776" y="2450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benchmark on improved pipeline with augmented data</a:t>
            </a:r>
            <a:endParaRPr lang="en-US" sz="950" dirty="0"/>
          </a:p>
        </p:txBody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5895BB78-1BA1-D9FD-E7CE-7C29AC4E8259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E6696519-5387-FDA3-0C94-842263B5C9B5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endParaRPr lang="sk-SK" sz="9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8AD01-078B-213E-5AAB-37B4DE1D781A}"/>
              </a:ext>
            </a:extLst>
          </p:cNvPr>
          <p:cNvSpPr txBox="1"/>
          <p:nvPr/>
        </p:nvSpPr>
        <p:spPr>
          <a:xfrm>
            <a:off x="278895" y="4538880"/>
            <a:ext cx="3017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 b="1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503920" y="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749808"/>
            <a:ext cx="46634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493776" y="7498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Artificial Intelligence in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" y="1389888"/>
            <a:ext cx="2212848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384048" y="1389888"/>
            <a:ext cx="914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7373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papers surveyed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06624" y="1389888"/>
            <a:ext cx="2212848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2706624" y="1389888"/>
            <a:ext cx="914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2871216" y="14630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71216" y="17373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2-node pipeline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157984"/>
            <a:ext cx="2212848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384048" y="2157984"/>
            <a:ext cx="9144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Text 17"/>
          <p:cNvSpPr/>
          <p:nvPr/>
        </p:nvSpPr>
        <p:spPr>
          <a:xfrm>
            <a:off x="548640" y="22311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50545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Thunderbird and HDFS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06624" y="2157984"/>
            <a:ext cx="2212848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2706624" y="2157984"/>
            <a:ext cx="9144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2871216" y="2231136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71216" y="250545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synthesis in progress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3127248"/>
            <a:ext cx="1042416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384048" y="312724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17904" y="3127248"/>
            <a:ext cx="1042416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Text 27"/>
          <p:cNvSpPr/>
          <p:nvPr/>
        </p:nvSpPr>
        <p:spPr>
          <a:xfrm>
            <a:off x="1517904" y="312724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/ MCP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51760" y="3127248"/>
            <a:ext cx="1042416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9"/>
          <p:cNvSpPr/>
          <p:nvPr/>
        </p:nvSpPr>
        <p:spPr>
          <a:xfrm>
            <a:off x="2651760" y="312724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LogLLM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85616" y="3127248"/>
            <a:ext cx="1042416" cy="329184"/>
          </a:xfrm>
          <a:prstGeom prst="roundRect">
            <a:avLst>
              <a:gd name="adj" fmla="val 19444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Text 31"/>
          <p:cNvSpPr/>
          <p:nvPr/>
        </p:nvSpPr>
        <p:spPr>
          <a:xfrm>
            <a:off x="3785616" y="312724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" y="3602736"/>
            <a:ext cx="466344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384048" y="3602736"/>
            <a:ext cx="91440" cy="6766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Text 34"/>
          <p:cNvSpPr/>
          <p:nvPr/>
        </p:nvSpPr>
        <p:spPr>
          <a:xfrm>
            <a:off x="548640" y="3602736"/>
            <a:ext cx="44256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contribution: a general-purpose, model-agnostic agentic framework for log anomaly detection that not only classifies but explains root causes in natural language.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38928" y="228600"/>
            <a:ext cx="0" cy="46634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8" name="Text 36"/>
          <p:cNvSpPr/>
          <p:nvPr/>
        </p:nvSpPr>
        <p:spPr>
          <a:xfrm>
            <a:off x="5321808" y="502920"/>
            <a:ext cx="349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16752" y="1261872"/>
            <a:ext cx="347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0" name="Shape 38"/>
          <p:cNvSpPr/>
          <p:nvPr/>
        </p:nvSpPr>
        <p:spPr>
          <a:xfrm>
            <a:off x="6455664" y="1261872"/>
            <a:ext cx="34747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1" name="Shape 39"/>
          <p:cNvSpPr/>
          <p:nvPr/>
        </p:nvSpPr>
        <p:spPr>
          <a:xfrm>
            <a:off x="6894576" y="1261872"/>
            <a:ext cx="34747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2" name="Shape 40"/>
          <p:cNvSpPr/>
          <p:nvPr/>
        </p:nvSpPr>
        <p:spPr>
          <a:xfrm>
            <a:off x="7333488" y="1261872"/>
            <a:ext cx="34747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3" name="Shape 41"/>
          <p:cNvSpPr/>
          <p:nvPr/>
        </p:nvSpPr>
        <p:spPr>
          <a:xfrm>
            <a:off x="7772400" y="1261872"/>
            <a:ext cx="347472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4" name="Text 42"/>
          <p:cNvSpPr/>
          <p:nvPr/>
        </p:nvSpPr>
        <p:spPr>
          <a:xfrm>
            <a:off x="5321808" y="1426464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321808" y="2048256"/>
            <a:ext cx="3493008" cy="15910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6" name="Text 44"/>
          <p:cNvSpPr/>
          <p:nvPr/>
        </p:nvSpPr>
        <p:spPr>
          <a:xfrm>
            <a:off x="5486400" y="2121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37376" y="21214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Bc. Kristián Rusnák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437376" y="24688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Lukáš Radoský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2816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37376" y="281635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FMFI · Comenius University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0" y="3163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37376" y="31638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21808" y="4443984"/>
            <a:ext cx="3493008" cy="420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5" name="Text 53"/>
          <p:cNvSpPr/>
          <p:nvPr/>
        </p:nvSpPr>
        <p:spPr>
          <a:xfrm>
            <a:off x="5321808" y="444398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Progress Seminar</a:t>
            </a:r>
            <a:endParaRPr 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B9B26B-B0D0-9258-B950-D416394797EB}"/>
              </a:ext>
            </a:extLst>
          </p:cNvPr>
          <p:cNvSpPr txBox="1"/>
          <p:nvPr/>
        </p:nvSpPr>
        <p:spPr>
          <a:xfrm>
            <a:off x="246892" y="4569768"/>
            <a:ext cx="3474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B59B32DE-0B08-410B-0AEA-B34DB1462DB1}"/>
              </a:ext>
            </a:extLst>
          </p:cNvPr>
          <p:cNvSpPr/>
          <p:nvPr/>
        </p:nvSpPr>
        <p:spPr>
          <a:xfrm>
            <a:off x="8430768" y="32004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89EFBAC0-C897-889D-D597-2D0423E998C5}"/>
              </a:ext>
            </a:extLst>
          </p:cNvPr>
          <p:cNvSpPr/>
          <p:nvPr/>
        </p:nvSpPr>
        <p:spPr>
          <a:xfrm>
            <a:off x="292608" y="452628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pPr algn="ctr"/>
            <a:endParaRPr lang="sk-SK" sz="900" b="1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A75E28-3FB0-A8E7-42F7-4046C796E045}"/>
              </a:ext>
            </a:extLst>
          </p:cNvPr>
          <p:cNvSpPr txBox="1"/>
          <p:nvPr/>
        </p:nvSpPr>
        <p:spPr>
          <a:xfrm>
            <a:off x="278895" y="4538880"/>
            <a:ext cx="3017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900" b="1" dirty="0"/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889</Words>
  <Application>Microsoft Macintosh PowerPoint</Application>
  <PresentationFormat>On-screen Show (16:9)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23</cp:revision>
  <dcterms:created xsi:type="dcterms:W3CDTF">2026-05-11T17:56:36Z</dcterms:created>
  <dcterms:modified xsi:type="dcterms:W3CDTF">2026-05-12T15:42:24Z</dcterms:modified>
</cp:coreProperties>
</file>